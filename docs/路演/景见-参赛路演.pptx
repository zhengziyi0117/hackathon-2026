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用一句话介绍：让游客走进风景，让景区能够维护这段体验。不要将封面称为实景。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这是待用户访谈验证的产品假设，不宣称已得到景区调研数据。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现场点临水小亭，展示中英切换与来源。真实 Marble 场景与程序工作流演示分设入口，当前配图展示五点位工作流。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以伙伴能够独立修改、核验和发布为价值表达，避免仅通过名称包装赛道。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此处运营提示是演示输入，不是景区真实公告。建议现场完整执行保存草稿、核验发布、回滚。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Marble 1.1 API 单图生成与网页渲染已验证，使用原有额度 1,580 credits。来源 ID 校验不能替代事实核验。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项测试包含 mock provider 的协议验证，另有一次真实 API 生成与网页播放记录。原 17 项浏览器检查针对首版工作流，本次视觉核验记录另存。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当前私有预览已发布。下一步是实际景区素材、语言模型接入和伙伴验收。项目名称可后续调整。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THE IDEA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465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景见 / JINGJIAN     01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6309360"/>
            <a:ext cx="11155680" cy="0"/>
          </a:xfrm>
          <a:prstGeom prst="line">
            <a:avLst/>
          </a:prstGeom>
          <a:noFill/>
          <a:ln w="12700">
            <a:solidFill>
              <a:srgbClr val="DFE6D7"/>
            </a:solidFill>
            <a:prstDash val="solid"/>
          </a:ln>
        </p:spPr>
      </p:sp>
      <p:pic>
        <p:nvPicPr>
          <p:cNvPr id="5" name="Image 0" descr="public/assets/westlake-conc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F35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2F2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景见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77240" y="1645920"/>
            <a:ext cx="7589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900" dirty="0">
                <a:solidFill>
                  <a:srgbClr val="FFF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未曾抵达，</a:t>
            </a:r>
            <a:endParaRPr lang="en-US" sz="4900" dirty="0"/>
          </a:p>
          <a:p>
            <a:pPr indent="0" marL="0">
              <a:buNone/>
            </a:pPr>
            <a:r>
              <a:rPr lang="en-US" sz="4900" dirty="0">
                <a:solidFill>
                  <a:srgbClr val="FFFD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已然心动。</a:t>
            </a:r>
            <a:endParaRPr lang="en-US" sz="4900" dirty="0"/>
          </a:p>
        </p:txBody>
      </p:sp>
      <p:sp>
        <p:nvSpPr>
          <p:cNvPr id="9" name="Text 6"/>
          <p:cNvSpPr/>
          <p:nvPr/>
        </p:nvSpPr>
        <p:spPr>
          <a:xfrm>
            <a:off x="82296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F0F0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景区共建的沉浸式预览与双语导览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822960" y="4892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5D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HACKATHON 2026  /  可运行首版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0" y="644652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8EB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概念视觉 · 非实景复刻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465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景见 / JINGJIAN     02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6309360"/>
            <a:ext cx="11155680" cy="0"/>
          </a:xfrm>
          <a:prstGeom prst="line">
            <a:avLst/>
          </a:prstGeom>
          <a:noFill/>
          <a:ln w="12700">
            <a:solidFill>
              <a:srgbClr val="DFE6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32688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225C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照片之后，理解之前。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游客缺少空间与文化的直观理解；景区缺少持续维护多语言体验的轻量工具。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324612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FE6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4472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25C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空间难想象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22960" y="4526280"/>
            <a:ext cx="3063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几张图片难以解释景物之间的关系。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324612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FE6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34472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4023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25C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文化难解释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572000" y="4526280"/>
            <a:ext cx="3063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逐句翻译，还不足以让海外游客理解。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92440" y="324612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FE6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34472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21040" y="4023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25C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内容难维护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321040" y="4526280"/>
            <a:ext cx="3063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资料改变后，场景与多语言讲解容易脱节。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THE 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465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景见 / JINGJIAN     03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6309360"/>
            <a:ext cx="11155680" cy="0"/>
          </a:xfrm>
          <a:prstGeom prst="line">
            <a:avLst/>
          </a:prstGeom>
          <a:noFill/>
          <a:ln w="12700">
            <a:solidFill>
              <a:srgbClr val="DFE6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97280"/>
            <a:ext cx="3794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225C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看着什么，</a:t>
            </a:r>
            <a:endParaRPr lang="en-US" sz="3400" dirty="0"/>
          </a:p>
          <a:p>
            <a:pPr indent="0" marL="0">
              <a:buNone/>
            </a:pPr>
            <a:r>
              <a:rPr lang="en-US" sz="3400" dirty="0">
                <a:solidFill>
                  <a:srgbClr val="225C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就能问什么。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3108960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选择点位 → 场景聚焦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切换语言 → 解释文化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追问细节 → 回溯资料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5120640"/>
            <a:ext cx="3383280" cy="420624"/>
          </a:xfrm>
          <a:prstGeom prst="roundRect">
            <a:avLst>
              <a:gd name="adj" fmla="val 17391"/>
            </a:avLst>
          </a:prstGeom>
          <a:solidFill>
            <a:srgbClr val="EAF0E1"/>
          </a:solidFill>
          <a:ln w="12700">
            <a:solidFill>
              <a:srgbClr val="DFE6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2120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25C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未知信息，明确告知</a:t>
            </a:r>
            <a:endParaRPr lang="en-US" sz="1100" dirty="0"/>
          </a:p>
        </p:txBody>
      </p:sp>
      <p:pic>
        <p:nvPicPr>
          <p:cNvPr id="9" name="Image 0" descr="artifacts/tour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5152" y="914400"/>
            <a:ext cx="694944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THE PARTNER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465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景见 / JINGJIAN     04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6309360"/>
            <a:ext cx="11155680" cy="0"/>
          </a:xfrm>
          <a:prstGeom prst="line">
            <a:avLst/>
          </a:prstGeom>
          <a:noFill/>
          <a:ln w="12700">
            <a:solidFill>
              <a:srgbClr val="DFE6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5097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225C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把维护体验的能力，交给景区。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97510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伙伴端是作品的主流程；游客端呈现伙伴审核后的内容。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94360" y="3200400"/>
            <a:ext cx="26060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3832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8221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225C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777240" y="4425696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图片、文字与来源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29000" y="3200400"/>
            <a:ext cx="26060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33832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11880" y="38221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225C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共建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3611880" y="4425696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双语讲解与场景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3200400"/>
            <a:ext cx="26060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3832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38221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225C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6446520" y="4425696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逐点审核与使用权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98280" y="3200400"/>
            <a:ext cx="2606040" cy="1645920"/>
          </a:xfrm>
          <a:prstGeom prst="roundRect">
            <a:avLst/>
          </a:prstGeom>
          <a:solidFill>
            <a:srgbClr val="225C4F"/>
          </a:solidFill>
          <a:ln w="12700">
            <a:solidFill>
              <a:srgbClr val="DFE6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81160" y="33832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AD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81160" y="38221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281160" y="4425696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7E1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快照、分享与回滚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53492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25C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草稿与发布隔离：修改内容不会提前影响正在体验的游客。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LIVE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465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景见 / JINGJIAN     05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6309360"/>
            <a:ext cx="11155680" cy="0"/>
          </a:xfrm>
          <a:prstGeom prst="line">
            <a:avLst/>
          </a:prstGeom>
          <a:noFill/>
          <a:ln w="12700">
            <a:solidFill>
              <a:srgbClr val="DFE6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3268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dirty="0">
                <a:solidFill>
                  <a:srgbClr val="225C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现场改一条，让系统自己证明。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594360" y="25146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FE6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1576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25C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没有已发布提示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3063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游客问：小亭有什么运营提示？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25146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FE6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71576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仅保存草稿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3291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25C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游客答案保持不变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572000" y="3794760"/>
            <a:ext cx="3063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新内容尚未经过核验发布。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92440" y="25146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FE6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71576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审核发布后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21040" y="3291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25C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回答出现新提示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321040" y="3794760"/>
            <a:ext cx="3063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演示通知：小亭 16:00 后暂停访问。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519379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25C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再切回旧版本，重复提问。版本行为可验证，答案变化可复现。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465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景见 / JINGJIAN     06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6309360"/>
            <a:ext cx="11155680" cy="0"/>
          </a:xfrm>
          <a:prstGeom prst="line">
            <a:avLst/>
          </a:prstGeom>
          <a:noFill/>
          <a:ln w="12700">
            <a:solidFill>
              <a:srgbClr val="DFE6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dirty="0">
                <a:solidFill>
                  <a:srgbClr val="225C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空间负责看见，资料负责可信。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914400" y="2331720"/>
            <a:ext cx="4663440" cy="960120"/>
          </a:xfrm>
          <a:prstGeom prst="roundRect">
            <a:avLst/>
          </a:prstGeom>
          <a:solidFill>
            <a:srgbClr val="EAF0E1"/>
          </a:solidFill>
          <a:ln w="12700">
            <a:solidFill>
              <a:srgbClr val="DFE6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4871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5C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素材与事实来源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29077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景区导入 / 公开许可资料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3703320"/>
            <a:ext cx="4663440" cy="960120"/>
          </a:xfrm>
          <a:prstGeom prst="roundRect">
            <a:avLst/>
          </a:prstGeom>
          <a:solidFill>
            <a:srgbClr val="225C4F"/>
          </a:solidFill>
          <a:ln w="12700">
            <a:solidFill>
              <a:srgbClr val="DFE6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38587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审核后的版本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" y="42793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6E1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点位 ID / 双语内容 / 来源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2331720"/>
            <a:ext cx="4663440" cy="960120"/>
          </a:xfrm>
          <a:prstGeom prst="roundRect">
            <a:avLst/>
          </a:prstGeom>
          <a:solidFill>
            <a:srgbClr val="EAF0E1"/>
          </a:solidFill>
          <a:ln w="12700">
            <a:solidFill>
              <a:srgbClr val="DFE6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24871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5C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空间播放器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29400" y="29077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Three.js + Spark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3703320"/>
            <a:ext cx="4663440" cy="960120"/>
          </a:xfrm>
          <a:prstGeom prst="roundRect">
            <a:avLst/>
          </a:prstGeom>
          <a:solidFill>
            <a:srgbClr val="EAF0E1"/>
          </a:solidFill>
          <a:ln w="12700">
            <a:solidFill>
              <a:srgbClr val="DFE6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38587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5C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数字导游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29400" y="42793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资料检索 / 可选模型表达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53035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世界生成服务：World Labs Marble 异步任务 → SPZ 资产 → 核验后发布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WHAT IS VERIFIED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465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景见 / JINGJIAN     07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6309360"/>
            <a:ext cx="11155680" cy="0"/>
          </a:xfrm>
          <a:prstGeom prst="line">
            <a:avLst/>
          </a:prstGeom>
          <a:noFill/>
          <a:ln w="12700">
            <a:solidFill>
              <a:srgbClr val="DFE6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dirty="0">
                <a:solidFill>
                  <a:srgbClr val="225C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已实现的说清楚，待验证的列出来。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85800" y="23042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25C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85800" y="3017520"/>
            <a:ext cx="51206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63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项核心与本地接口测试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项浏览器端到端检查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Marble 1.1 生成、下载与网页渲染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手机、平板布局与离线主流程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0" y="23042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A48B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待真实验证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400800" y="3017520"/>
            <a:ext cx="51206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实拍输入与近景几何质量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真实语言模型的事实支持率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新场景点位空间校准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伙伴独立完成率与制作耗时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85800" y="5577840"/>
            <a:ext cx="10789920" cy="420624"/>
          </a:xfrm>
          <a:prstGeom prst="roundRect">
            <a:avLst>
              <a:gd name="adj" fmla="val 17391"/>
            </a:avLst>
          </a:prstGeom>
          <a:solidFill>
            <a:srgbClr val="EAF0E1"/>
          </a:solidFill>
          <a:ln w="12700">
            <a:solidFill>
              <a:srgbClr val="DFE6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66928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25C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当前不宣称：已降低成本、提高转化、获得景区背书。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NEXT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465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景见 / JINGJIAN     08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6309360"/>
            <a:ext cx="11155680" cy="0"/>
          </a:xfrm>
          <a:prstGeom prst="line">
            <a:avLst/>
          </a:prstGeom>
          <a:noFill/>
          <a:ln w="12700">
            <a:solidFill>
              <a:srgbClr val="DFE6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6012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dirty="0">
                <a:solidFill>
                  <a:srgbClr val="225C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从一湖诗意，</a:t>
            </a:r>
            <a:endParaRPr lang="en-US" sz="3700" dirty="0"/>
          </a:p>
          <a:p>
            <a:pPr indent="0" marL="0">
              <a:buNone/>
            </a:pPr>
            <a:r>
              <a:rPr lang="en-US" sz="3700" dirty="0">
                <a:solidFill>
                  <a:srgbClr val="225C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到更多值得相遇的地方。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685800" y="3429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D1–2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85800" y="4160520"/>
            <a:ext cx="2377440" cy="0"/>
          </a:xfrm>
          <a:prstGeom prst="line">
            <a:avLst/>
          </a:prstGeom>
          <a:noFill/>
          <a:ln w="25400">
            <a:solidFill>
              <a:srgbClr val="DFE6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4480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25C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可运行首版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85800" y="5074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流程、视觉与备份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20440" y="3429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D2–4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520440" y="4160520"/>
            <a:ext cx="2377440" cy="0"/>
          </a:xfrm>
          <a:prstGeom prst="line">
            <a:avLst/>
          </a:prstGeom>
          <a:noFill/>
          <a:ln w="25400">
            <a:solidFill>
              <a:srgbClr val="DFE6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4480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25C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真实场景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520440" y="5074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生成、核验与校准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3429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D4–6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355080" y="4160520"/>
            <a:ext cx="2377440" cy="0"/>
          </a:xfrm>
          <a:prstGeom prst="line">
            <a:avLst/>
          </a:prstGeom>
          <a:noFill/>
          <a:ln w="25400">
            <a:solidFill>
              <a:srgbClr val="DFE6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4480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25C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伙伴试用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355080" y="5074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问题集、录屏与路演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89720" y="3429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D7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189720" y="4160520"/>
            <a:ext cx="2377440" cy="0"/>
          </a:xfrm>
          <a:prstGeom prst="line">
            <a:avLst/>
          </a:prstGeom>
          <a:noFill/>
          <a:ln w="25400">
            <a:solidFill>
              <a:srgbClr val="DFE6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9720" y="4480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25C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正式提交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189720" y="5074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49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核对比赛要求与权限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景见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景见 · 与山水先相遇</dc:title>
  <dc:subject>黑客松首版原型与演示</dc:subject>
  <dc:creator>景见项目组</dc:creator>
  <cp:lastModifiedBy>景见项目组</cp:lastModifiedBy>
  <cp:revision>1</cp:revision>
  <dcterms:created xsi:type="dcterms:W3CDTF">2026-10-10T09:33:06Z</dcterms:created>
  <dcterms:modified xsi:type="dcterms:W3CDTF">2026-10-10T09:33:06Z</dcterms:modified>
</cp:coreProperties>
</file>